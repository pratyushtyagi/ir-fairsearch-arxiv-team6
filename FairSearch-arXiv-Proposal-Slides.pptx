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55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89888"/>
            <a:ext cx="73152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CS6200 ·  SUMMER 2026  ·  PROJECT PROPOSAL (TEAM 6)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FairSearch-arXiv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Evaluating and Mitigating Bias in Academic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Retrieval-Augmented 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Thesis: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dense retrieval and LLM synthesis are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multiplicative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amplifiers of institutional homophily. We measure each stage, then mitigate.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482951"/>
              </p:ext>
            </p:extLst>
          </p:nvPr>
        </p:nvGraphicFramePr>
        <p:xfrm>
          <a:off x="640080" y="4617720"/>
          <a:ext cx="8686800" cy="1554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Pipeline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Aarushi Kaushik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&amp; indexing  (ChromaDB, SPECTER2)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Pavani Jain</a:t>
                      </a: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evaluation  (EEL, EED, demographic parity)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Pratyush Tyagi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mitigation  (FA*IR re-rank, MMR, fair prompting)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Shweta Pattanaik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interface, demo,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homophily in RAG-based academic search — a two-stage amplifier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investigating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Dense retrieval + LLM synthesis </a:t>
            </a:r>
            <a:r>
              <a:rPr lang="en-US" sz="15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multiply </a:t>
            </a:r>
            <a:r>
              <a:rPr lang="en-US" sz="15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— not add — two distinct sources of </a:t>
            </a: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homophily.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79832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skew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training corpora overrepresent elite labs → cosine ranks them higher at equal relevance. [Citation needed: Lo et al., 2020]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55520" y="233172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484120" y="2331720"/>
            <a:ext cx="1798320" cy="1143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9384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9384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skew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9384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prefers densely-represented entities → cites them more, even over a balanced top-k.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82440" y="2331720"/>
            <a:ext cx="22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11040" y="2331720"/>
            <a:ext cx="1798320" cy="1143000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0768" y="2423160"/>
            <a:ext cx="1578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0768" y="2606040"/>
            <a:ext cx="1578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Compounded harm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0768" y="2880360"/>
            <a:ext cx="157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answer's citations reflect the product of both biases. User assumes neutrality.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5852160" cy="1188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QUERY  (to be measured in RQ1, RQ2)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85876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Query: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"recent advances in retrieval"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Likely top-10 from SPECTER2 cosine: heavily skewed toward labs at MIT, Stanford, Google, DeepMind. The synthesis layer then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names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same institutions disproportionately in the answer — harm compounds at the surface the user reads.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it matters: </a:t>
            </a: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preprints get surfaced for a routine query decides which research lineage the next student, reviewer, or grant panelist reads.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64592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0" y="164592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64792"/>
            <a:ext cx="329184" cy="32918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178040" y="17190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Non-elite institutions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178040" y="19933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universities, teaching colleges, industry labs outside the canonical top tier — under-cited despite topical relevance.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260604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583680" y="260604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724912"/>
            <a:ext cx="329184" cy="329184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7178040" y="2679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research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7178040" y="295351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in LMICs whose work is under-indexed by training corpora that mirror Anglophone publishing patterns.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583680" y="356616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8"/>
          <p:cNvSpPr/>
          <p:nvPr/>
        </p:nvSpPr>
        <p:spPr>
          <a:xfrm>
            <a:off x="6583680" y="356616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685032"/>
            <a:ext cx="329184" cy="329184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7178040" y="36393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&amp; cross-disciplinary topics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7178040" y="39136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whose stylistic fingerprint sits between trained-on clusters — fall through the cracks of dense retrieval.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583680" y="4526280"/>
            <a:ext cx="512064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583680" y="4526280"/>
            <a:ext cx="73152" cy="822960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645152"/>
            <a:ext cx="329184" cy="329184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178040" y="45994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researchers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7178040" y="48737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citation history to anchor embeddings, junior authors at any institution face cold-start exclusion.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6583680" y="5760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Why now: </a:t>
            </a:r>
            <a:r>
              <a:rPr lang="en-US" sz="11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academic chatbots already route reading lists. The question is no longer whether RAG shapes scientific attention, but </a:t>
            </a:r>
            <a:r>
              <a:rPr lang="en-US" sz="1100" b="1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unequally.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 &amp;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vector store · sampling · initial observations from the arXiv snapshot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" y="14904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Kaggle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 papers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625242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730398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682" y="149047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30398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30398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50K, 2020–25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98441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003597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49047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03597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embed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03597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768-d, scientific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7171639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276795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078" y="149047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6795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276795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+ filters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9444838" y="1673352"/>
            <a:ext cx="91440" cy="0"/>
          </a:xfrm>
          <a:prstGeom prst="line">
            <a:avLst/>
          </a:prstGeom>
          <a:noFill/>
          <a:ln w="25400">
            <a:solidFill>
              <a:srgbClr val="D897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549994" y="1371600"/>
            <a:ext cx="2154326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4277" y="1490472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49994" y="1901952"/>
            <a:ext cx="21543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 synth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549994" y="2148840"/>
            <a:ext cx="21543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57200" y="274320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57200" y="2743200"/>
            <a:ext cx="3611880" cy="7315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40080" y="2907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ChromaDB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008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Qdrant for the proposal phase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640080" y="352044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in-process — no separate server to manage.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store holds 50K × 768-d vectors well under laptop RAM.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metadata filter (institution, year, category) — required for parity slicing.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fallback via LangChain if we scale past 250K vectors.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206240" y="2743200"/>
            <a:ext cx="36118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4206240" y="2743200"/>
            <a:ext cx="361188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4389120" y="29077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Cornell arXiv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4389120" y="32186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kaggle.com/datasets/Cornell-University/arxiv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389120" y="3520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2M+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JSONL, weekly Cornell update, CC0 license.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4389120" y="3840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Fields: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abstract, authors, authors_parsed, categories, journal-ref, doi, update_date, versions.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389120" y="4617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Sample design: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50K by primary category × year (2020–25). Affiliations parsed from author strings and resolved via ROR + CWUR mapping.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389120" y="5577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Protected attribute: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tier (top-50 CWUR vs. rest) and region (Global North/South), reported separately.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7955280" y="2743200"/>
            <a:ext cx="3749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955280" y="2743200"/>
            <a:ext cx="3749040" cy="73152"/>
          </a:xfrm>
          <a:prstGeom prst="rect">
            <a:avLst/>
          </a:prstGeom>
          <a:solidFill>
            <a:srgbClr val="C445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2944368"/>
            <a:ext cx="256032" cy="25603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458200" y="29077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EDA observations</a:t>
            </a:r>
            <a:endParaRPr lang="en-US" sz="1400" dirty="0"/>
          </a:p>
        </p:txBody>
      </p:sp>
      <p:sp>
        <p:nvSpPr>
          <p:cNvPr id="50" name="Text 42"/>
          <p:cNvSpPr/>
          <p:nvPr/>
        </p:nvSpPr>
        <p:spPr>
          <a:xfrm>
            <a:off x="813816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50K stratified sample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8138160" y="35478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Category mix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cs.LG, cs.CV, cs.CL dominate post-2020 cs.* submissions; physics.* still ~25% of corpus overall.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8138160" y="40965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Growth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~3.5× from 2015→2024 — recent skew matters for any temporal slice.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8138160" y="46451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Authors per paper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4, long right tail; multi-affiliation strings frequent — extraction is non-trivial.</a:t>
            </a:r>
            <a:endParaRPr lang="en-US" sz="950" dirty="0"/>
          </a:p>
        </p:txBody>
      </p:sp>
      <p:sp>
        <p:nvSpPr>
          <p:cNvPr id="54" name="Text 46"/>
          <p:cNvSpPr/>
          <p:nvPr/>
        </p:nvSpPr>
        <p:spPr>
          <a:xfrm>
            <a:off x="8138160" y="5193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Affiliation noise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author strings: ~15% need disambiguation; emails and acronyms common.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8138160" y="57424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Top-tier prevalence 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CWUR institutions are disproportionately present in recent cs.* — preview of the bias we'll measure.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falsifiable hypotheses, each with a pre-registered metric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dense retrieval over arXiv over-represent papers from top-tier institutions relative to a relevance-matched baseline?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(H1)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+ cosine retrieval will show a ≥ 15% exposure gap (EED) between top-tier and other affiliations versus BM25, on a held-out diverse-affiliation query set.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 (Diaz et al., 2020) across institution tiers; significance via 10K bootstrap over queries.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EED gap ≤ 5% (within noise of BM25).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5196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3484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6636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Neutrality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3484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3484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 on a balanced top-k, does LLM synthesis introduce additional citation skew toward elite institutions in its generated answer?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(H2)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3484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balanced top-10 input, Llama-3-8B will cite top-tier institutions at ≥ 1.3× their share of the input set.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3484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3484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citation share in generated text ÷ share in input top-k, averaged over 50 queries. (Note: 50 queries is a modest sample; power analysis will be run to confirm adequacy, with expansion to 100+ queries if effect size is small.)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43484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ratio ∈ [0.9, 1.1] (no synthesis-stage amplification).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46720" y="141732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46720" y="1417320"/>
            <a:ext cx="3657600" cy="56692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0" y="149047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897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61120" y="14904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Fairness–Utility Tradeoff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21305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retrieval relevance must we sacrifice to close the parity gap via fair re-ranking and prompt-level mitigation?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29600" y="3520440"/>
            <a:ext cx="3291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3611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(H3)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229600" y="381304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FA*IR (k = 20) + a fairness-aware prompt reduces EED by ≥ 50% at ≤ 5% nDCG@10 cost — a favorable Pareto point.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0" y="4873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0" y="5074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 of (EED reduction, ΔnDCG@10) with 95% CIs over re-rank parameters.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57881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0" y="5989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any 50% EED cut costs &gt; 10% nDCG@10 (mitigation infeasible).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291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– Week 14 · four phases · exit gates and risks called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6537960"/>
            <a:ext cx="112471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FairSearch-arXiv  ·  CS 6200  ·  Project Proposal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83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706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706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926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9268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470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470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672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672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587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87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027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0278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2480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2480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4682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4682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76884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76884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9086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90860" y="1371600"/>
            <a:ext cx="92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612880" y="1664208"/>
            <a:ext cx="0" cy="146304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1737360"/>
            <a:ext cx="11064240" cy="5486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2011680"/>
            <a:ext cx="1844040" cy="292608"/>
          </a:xfrm>
          <a:prstGeom prst="roundRect">
            <a:avLst>
              <a:gd name="adj" fmla="val 125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2011680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&amp; EDA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14700" y="2395728"/>
            <a:ext cx="1844040" cy="292608"/>
          </a:xfrm>
          <a:prstGeom prst="roundRect">
            <a:avLst>
              <a:gd name="adj" fmla="val 12500"/>
            </a:avLst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06140" y="2395728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Baseline RAG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58740" y="2779776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50180" y="2779776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Fairness Evaluation (RQ1, RQ2)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24800" y="3163824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8B5E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16240" y="3163824"/>
            <a:ext cx="25831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Mitigation, UI, Report (RQ3)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" y="3749040"/>
            <a:ext cx="2663190" cy="7315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8580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Kaggle snapshot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50K sample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 extraction (ROR/CWUR)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affiliations resolved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author strings → manual spot-check on 500 samples + LLM disambiguation.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4899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348990" y="3749040"/>
            <a:ext cx="2663190" cy="73152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8615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48615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RAG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8615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SPECTER2 + MiniLM embed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indexing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Llama-3-8B synthesis API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615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≤ 3 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8615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context limit → chunked retrieval, top-10 cap, prompt budget audit.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4934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49340" y="3749040"/>
            <a:ext cx="2663190" cy="73152"/>
          </a:xfrm>
          <a:prstGeom prst="rect">
            <a:avLst/>
          </a:prstGeom>
          <a:solidFill>
            <a:srgbClr val="D89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8650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8650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Eval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28650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EEL / EED metrics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parity@k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share in synthesis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8650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(p&lt;0.05) RQ1/RQ2 result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28650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 contested → report under both uniform and population-proportional targets.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949690" y="3749040"/>
            <a:ext cx="2663190" cy="2651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949690" y="3749040"/>
            <a:ext cx="2663190" cy="73152"/>
          </a:xfrm>
          <a:prstGeom prst="rect">
            <a:avLst/>
          </a:prstGeom>
          <a:solidFill>
            <a:srgbClr val="8B5E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086850" y="38953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89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9086850" y="4114800"/>
            <a:ext cx="23888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&amp; Deliv.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086850" y="4462272"/>
            <a:ext cx="238887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FA*IR re-rank + MMR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prompt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UI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086850" y="544068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Exit gate: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Pareto-dominated point over baseline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086850" y="5806440"/>
            <a:ext cx="238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Risk: 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collapses relevance → require ≥ 50% EED cut at ≤ 5% nDCG cost (else publish negative).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1258</Words>
  <Application>Microsoft Macintosh PowerPoint</Application>
  <PresentationFormat>Widescreen</PresentationFormat>
  <Paragraphs>173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FairSearch-arXiv Proposal</dc:title>
  <dc:subject>PptxGenJS Presentation</dc:subject>
  <dc:creator>Team FairSearch</dc:creator>
  <cp:lastModifiedBy>Pratyush Tyagi</cp:lastModifiedBy>
  <cp:revision>4</cp:revision>
  <dcterms:created xsi:type="dcterms:W3CDTF">2026-05-20T17:39:36Z</dcterms:created>
  <dcterms:modified xsi:type="dcterms:W3CDTF">2026-05-20T17:49:45Z</dcterms:modified>
</cp:coreProperties>
</file>