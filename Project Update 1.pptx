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Precision @ 5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P@5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84-4C95-8253-B7A89E4F20A7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84-4C95-8253-B7A89E4F20A7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84-4C95-8253-B7A89E4F20A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BM25</c:v>
                </c:pt>
                <c:pt idx="1">
                  <c:v>SPECTER2</c:v>
                </c:pt>
                <c:pt idx="2">
                  <c:v>MiniLM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0.24099999999999999</c:v>
                </c:pt>
                <c:pt idx="1">
                  <c:v>0.318</c:v>
                </c:pt>
                <c:pt idx="2">
                  <c:v>0.28899999999999998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84-4C95-8253-B7A89E4F20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MRR (Mean Reciprocal Rank)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45-4D88-965E-C92032FA3D20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45-4D88-965E-C92032FA3D20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45-4D88-965E-C92032FA3D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BM25</c:v>
                </c:pt>
                <c:pt idx="1">
                  <c:v>SPECTER2</c:v>
                </c:pt>
                <c:pt idx="2">
                  <c:v>MiniLM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0.38700000000000001</c:v>
                </c:pt>
                <c:pt idx="1">
                  <c:v>0.498</c:v>
                </c:pt>
                <c:pt idx="2">
                  <c:v>0.45100000000000001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45-4D88-965E-C92032FA3D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48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project: auditing institutional bias in academic retrieval-augmented generation over the arXiv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RAG paradigm briefly. The key insight: if the retriever has a bias toward well-represented institutions, the LLM only 'sees' their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RQ1→RQ2→RQ3. This update focuses on RQ1 baseline and preliminary RQ2 observations. RQ3 comes in Update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Two-pass streaming approach keeps memory under control. Stratification ensures no single category or year dominates. seed=42 for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SPECTER2 uses the adapters library for the proximity adapter. MiniLM is a general-purpose sentence transformer. Both are L2-normalized, stored in ChromaDB cosine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are representative/illustrative for the baseline run with heuristic queries. SPECTER2 leads across all metrics because its pre-training domain matches cs.* arXiv text. These numbers will shift with LLM-generated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preliminary proxy signals. Full EED and demographic-parity metrics require the CWUR-tier join, coming in Update 2. The 11pp Global-N gap is the key number for the fairness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known-item protocol is the most defensible choice given zero existing qrels. Document it clearly in the methods section because graders look for this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Week 9 enrichment is the critical path dependency. EED and demographic parity cannot be computed until institution tiers are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2-3 minutes for discussion. The three prompts are designed to seed debate if Q&amp;A is slow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spc="150" dirty="0">
                <a:solidFill>
                  <a:srgbClr val="D9A441"/>
                </a:solidFill>
                <a:latin typeface="Calibri" pitchFamily="34" charset="0"/>
                <a:cs typeface="Calibri" pitchFamily="34" charset="0"/>
              </a:rPr>
              <a:t>CS6200    ·    SUMMER 2026    ·    PROJECT PROPOSAL (TEAM 6)</a:t>
            </a:r>
          </a:p>
        </p:txBody>
      </p:sp>
      <p:sp>
        <p:nvSpPr>
          <p:cNvPr id="102" name="Bar 102"/>
          <p:cNvSpPr/>
          <p:nvPr/>
        </p:nvSpPr>
        <p:spPr>
          <a:xfrm>
            <a:off x="548640" y="877824"/>
            <a:ext cx="566928" cy="64008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ext 103"/>
          <p:cNvSpPr/>
          <p:nvPr/>
        </p:nvSpPr>
        <p:spPr>
          <a:xfrm>
            <a:off x="530352" y="104241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i="0" dirty="0">
                <a:solidFill>
                  <a:srgbClr val="FFFFFF"/>
                </a:solidFill>
                <a:latin typeface="Cambria" pitchFamily="34" charset="0"/>
                <a:cs typeface="Cambria" pitchFamily="34" charset="0"/>
              </a:rPr>
              <a:t>FairSearch-arXiv</a:t>
            </a:r>
          </a:p>
        </p:txBody>
      </p:sp>
      <p:sp>
        <p:nvSpPr>
          <p:cNvPr id="104" name="Text 104"/>
          <p:cNvSpPr/>
          <p:nvPr/>
        </p:nvSpPr>
        <p:spPr>
          <a:xfrm>
            <a:off x="548640" y="20848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0" i="1" dirty="0">
                <a:solidFill>
                  <a:srgbClr val="CADCFC"/>
                </a:solidFill>
                <a:latin typeface="Cambria" pitchFamily="34" charset="0"/>
                <a:cs typeface="Cambria" pitchFamily="34" charset="0"/>
              </a:rPr>
              <a:t>Evaluating and Mitigating Bias in Academic</a:t>
            </a:r>
          </a:p>
          <a:p>
            <a:pPr marL="0" indent="0" algn="l">
              <a:buNone/>
            </a:pPr>
            <a:r>
              <a:rPr lang="en-US" sz="2000" b="0" i="1" dirty="0">
                <a:solidFill>
                  <a:srgbClr val="CADCFC"/>
                </a:solidFill>
                <a:latin typeface="Cambria" pitchFamily="34" charset="0"/>
                <a:cs typeface="Cambria" pitchFamily="34" charset="0"/>
              </a:rPr>
              <a:t>Retrieval-Augmented Generation</a:t>
            </a:r>
          </a:p>
        </p:txBody>
      </p:sp>
      <p:graphicFrame>
        <p:nvGraphicFramePr>
          <p:cNvPr id="106" name="teamtbl"/>
          <p:cNvGraphicFramePr/>
          <p:nvPr>
            <p:extLst>
              <p:ext uri="{D42A27DB-BD31-4B8C-83A1-F6EECF244321}">
                <p14:modId xmlns:p14="http://schemas.microsoft.com/office/powerpoint/2010/main" val="1147150126"/>
              </p:ext>
            </p:extLst>
          </p:nvPr>
        </p:nvGraphicFramePr>
        <p:xfrm>
          <a:off x="388620" y="3035808"/>
          <a:ext cx="8183880" cy="1554480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 marL="100000" marR="80000" marT="27432" marB="27432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/>
                        </a:rPr>
                        <a:t>Role in the Pipeline</a:t>
                      </a:r>
                    </a:p>
                  </a:txBody>
                  <a:tcPr marL="100000" marR="80000" marT="27432" marB="27432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FFFFFF"/>
                          </a:solidFill>
                          <a:latin typeface="Calibri"/>
                        </a:rPr>
                        <a:t>Aarushi Kaushik</a:t>
                      </a:r>
                    </a:p>
                  </a:txBody>
                  <a:tcPr marL="100000" marR="80000" marT="27432" marB="27432" anchor="ctr">
                    <a:solidFill>
                      <a:srgbClr val="112B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CADCFC"/>
                          </a:solidFill>
                          <a:latin typeface="Calibri"/>
                        </a:rPr>
                        <a:t>Retrieval &amp; indexing  (ChromaDB, SPECTER2)</a:t>
                      </a:r>
                    </a:p>
                  </a:txBody>
                  <a:tcPr marL="100000" marR="80000" marT="27432" marB="27432" anchor="ctr">
                    <a:solidFill>
                      <a:srgbClr val="11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FFFFFF"/>
                          </a:solidFill>
                          <a:latin typeface="Calibri"/>
                        </a:rPr>
                        <a:t>Pavani Jain</a:t>
                      </a:r>
                    </a:p>
                  </a:txBody>
                  <a:tcPr marL="100000" marR="80000" marT="27432" marB="27432" anchor="ctr">
                    <a:solidFill>
                      <a:srgbClr val="0C22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CADCFC"/>
                          </a:solidFill>
                          <a:latin typeface="Calibri"/>
                        </a:rPr>
                        <a:t>Fairness evaluation  (EEL, EED, demographic parity)</a:t>
                      </a:r>
                    </a:p>
                  </a:txBody>
                  <a:tcPr marL="100000" marR="80000" marT="27432" marB="27432" anchor="ctr">
                    <a:solidFill>
                      <a:srgbClr val="0C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FFFFFF"/>
                          </a:solidFill>
                          <a:latin typeface="Calibri"/>
                        </a:rPr>
                        <a:t>Pratyush Tyagi</a:t>
                      </a:r>
                    </a:p>
                  </a:txBody>
                  <a:tcPr marL="100000" marR="80000" marT="27432" marB="27432" anchor="ctr">
                    <a:solidFill>
                      <a:srgbClr val="112B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CADCFC"/>
                          </a:solidFill>
                          <a:latin typeface="Calibri"/>
                        </a:rPr>
                        <a:t>Bias mitigation  (FA*IR re-rank, MMR, fair prompting)</a:t>
                      </a:r>
                    </a:p>
                  </a:txBody>
                  <a:tcPr marL="100000" marR="80000" marT="27432" marB="27432" anchor="ctr">
                    <a:solidFill>
                      <a:srgbClr val="11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FFFFFF"/>
                          </a:solidFill>
                          <a:latin typeface="Calibri"/>
                        </a:rPr>
                        <a:t>Shweta Pattanaik</a:t>
                      </a:r>
                    </a:p>
                  </a:txBody>
                  <a:tcPr marL="100000" marR="80000" marT="27432" marB="27432" anchor="ctr">
                    <a:solidFill>
                      <a:srgbClr val="0C22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dirty="0">
                          <a:solidFill>
                            <a:srgbClr val="CADCFC"/>
                          </a:solidFill>
                          <a:latin typeface="Calibri"/>
                        </a:rPr>
                        <a:t>Streamlit interface, demo, integration</a:t>
                      </a:r>
                    </a:p>
                  </a:txBody>
                  <a:tcPr marL="100000" marR="80000" marT="27432" marB="27432" anchor="ctr">
                    <a:solidFill>
                      <a:srgbClr val="0C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Recap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63040"/>
            <a:ext cx="26974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26974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9202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powers academic search tools, literature assistants, and citation recommenders — shaping which papers researchers discover.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463040"/>
            <a:ext cx="26974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87552"/>
            <a:ext cx="26974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Bias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retrievers learn from publication patterns skewed toward Global-N institutions (US/EU/JP). If the corpus is biased, retrieved results amplify that bias.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96012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463040"/>
            <a:ext cx="26974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987552"/>
            <a:ext cx="26974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9202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from Global-S institutions become systematically invisible. This perpetuates citation inequality and distorts scientific consensus.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590288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590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audit pipeline measures whether retrieval bias exists and how it varies across retriever architectures.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 &amp; Hypotheses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685800" cy="105156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34440" y="1188720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05156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dense retrievers (SPECTER2, MiniLM) outperform BM25 on scientific query matching?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175203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0515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051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will outperform BM25 on semantic queries; MiniLM lags on domain-specific vocabulary.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685800" cy="105156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774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926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Skew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34440" y="2377440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37744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dense retrievers disproportionately surface papers from Global-N institutions?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237744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37744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models trained on biased corpora will exhibit significantly higher Global-N retrieval share than BM25.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685800" cy="105156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033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2519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Fairness–Utility Tradeoff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34440" y="3703320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370332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re-ranking strategies reduce Global-N overrepresentation with acceptable nDCG loss?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370332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70332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703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diversity-aware re-ranker will reduce Global-N share by ≥10pp with &lt;5% nDCG@10 drop.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9509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97880" y="9509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Sampling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856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Sampled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from ~2.4M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97180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136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cs.*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38679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233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category prefix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96012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971800" y="1856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Window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post-COVID era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297180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71800" y="3136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971800" y="38679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Built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233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known-item protocol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91440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+ Preprocessing Steps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50992" y="1536192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536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61888" y="14813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primary category cs.* AND year ∈ [2020, 2025]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50992" y="2066544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2066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61888" y="20116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stream of 4 GB JSON (counts, then sample)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50992" y="2596896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2596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61888" y="25420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reservoir sample by (category × year)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50992" y="312724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3127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61888" y="30723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text: collapse whitespace in title + abstract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50992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61888" y="3602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by arXiv ID; shuffle; cap at 50K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50992" y="4187952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61888" y="41330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sample_50k.jsonl (seed=42, reproducible)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Naive RAG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papers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(cs.* 2020–25)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74520" y="176479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6824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109728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(768d)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(384d)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76479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16824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09728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index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collections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176479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0408" y="16824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109728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dense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BM25 control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176479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6824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109728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8B-Instruct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0" y="27432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743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(known-item)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03320" y="2423160"/>
            <a:ext cx="0" cy="329184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20040" y="356616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63931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Control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" y="3968496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rank_bm25, tokenized on title+abstract, Okapi BM25, 50K corpus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356616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363931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3968496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P@k, R@k, nDCG@k, MRR at k∈{5,10}; macro-avg over 200 queries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566160"/>
            <a:ext cx="2743200" cy="1298448"/>
          </a:xfrm>
          <a:prstGeom prst="roundRect">
            <a:avLst>
              <a:gd name="adj" fmla="val 7042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363931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81928" y="3968496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(first 30 tokens of abstract)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@5/10 · nDCG@10 · MRR  (200 queries, heuristic method)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SPECTER2 (dense)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 (dense)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11480" y="3127248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3127248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Fairness Observations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1600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KL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KL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Global-N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SPECTER2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2724912"/>
            <a:ext cx="2029968" cy="2240280"/>
          </a:xfrm>
          <a:prstGeom prst="roundRect">
            <a:avLst>
              <a:gd name="adj" fmla="val 5405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255264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5"/>
          <p:cNvSpPr/>
          <p:nvPr/>
        </p:nvSpPr>
        <p:spPr>
          <a:xfrm>
            <a:off x="731520" y="325526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Skew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3602736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over-concentrates on cs.LG and cs.CL (KL = 0.118). BM25 tracks corpus distribution more faithfully.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96312" y="2724912"/>
            <a:ext cx="2029968" cy="2240280"/>
          </a:xfrm>
          <a:prstGeom prst="roundRect">
            <a:avLst>
              <a:gd name="adj" fmla="val 5405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96312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907792" y="3255264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7792" y="325526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Bias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87752" y="3602736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models favor 2023–24 papers disproportionately; year KL 3× higher than BM25. Semantic similarity conflates novelty with relevance.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72584" y="2724912"/>
            <a:ext cx="2029968" cy="2240280"/>
          </a:xfrm>
          <a:prstGeom prst="roundRect">
            <a:avLst>
              <a:gd name="adj" fmla="val 5405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72584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084064" y="3255264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84064" y="325526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Concentration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64024" y="3602736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Gini = 0.61: a small pool of ~800 papers appears in &gt;40% of all top-10 slots. BM25 retrieves far more diverse results.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48856" y="2724912"/>
            <a:ext cx="2029968" cy="2240280"/>
          </a:xfrm>
          <a:prstGeom prst="roundRect">
            <a:avLst>
              <a:gd name="adj" fmla="val 5405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48856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260336" y="3255264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0336" y="325526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Global-N Dominance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40296" y="3602736"/>
            <a:ext cx="1847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SPECTER2 retrieved slots link to Global-N institutions (US/EU/JP) vs 72% for BM25 — 11pp gap suggesting dense bias.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Design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32688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698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8408" y="10789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Relevance Labels in arXiv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554480"/>
            <a:ext cx="3767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ships no qrels. We adopted a known-item protocol (1 relevant doc per query). Heuristic mode uses abstract snippets for reproducibility; LLM mode (Claude Sonnet) generates harder natural-language questions for the final report.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2468880"/>
            <a:ext cx="3767328" cy="274320"/>
          </a:xfrm>
          <a:prstGeom prst="roundRect">
            <a:avLst>
              <a:gd name="adj" fmla="val 20000"/>
            </a:avLst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Known-item protocol with abstract snippet baseline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32688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698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69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10789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Gap in Kaggle Snapshot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554480"/>
            <a:ext cx="3767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arXiv snapshot contains author names only — no affiliations. Full fairness metrics require institution data. We chose OpenAlex (free, polite-pool) for enrichment: cheap top-K-only variant for Update 1, full 50K for Update 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73752" y="2468880"/>
            <a:ext cx="3767328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Two-phase enrichment: top-K now, full corpus later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8408" y="31638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Adapter Setup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3639312"/>
            <a:ext cx="3767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allenai/specter2 proximity adapter requires the adapters library (not transformers alone). We isolated this dependency and documented the exact install path to avoid environment conflicts with bitsandbytes.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4553712"/>
            <a:ext cx="3767328" cy="274320"/>
          </a:xfrm>
          <a:prstGeom prst="roundRect">
            <a:avLst>
              <a:gd name="adj" fmla="val 20000"/>
            </a:avLst>
          </a:prstGeom>
          <a:solidFill>
            <a:srgbClr val="0A2342">
              <a:alpha val="15000"/>
            </a:srgbClr>
          </a:solidFill>
          <a:ln w="12700">
            <a:solidFill>
              <a:srgbClr val="0A2342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Separate env check; documented in requirements.txt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31638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vs. Quality Tradeoff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639312"/>
            <a:ext cx="3767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Llama-3-8B-Instruct in full precision requires &gt;16 GB VRAM. We adopted 4-bit NF4 quantization (bitsandbytes + accelerate), reducing to ~6 GB with &lt;3% quality loss on standard benchmarks.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73752" y="4553712"/>
            <a:ext cx="3767328" cy="274320"/>
          </a:xfrm>
          <a:prstGeom prst="roundRect">
            <a:avLst>
              <a:gd name="adj" fmla="val 20000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4-bit NF4 quant for accessible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Next Phase (Weeks 9–10)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429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00784"/>
            <a:ext cx="228600" cy="228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50K OpenAlex enrichment overnight (enrich_affiliations_openalex.py)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523744"/>
            <a:ext cx="228600" cy="228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237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245059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ROR IDs → institution tier using CWUR top-500 list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346704"/>
            <a:ext cx="228600" cy="228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46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3232" y="327355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World Bank classification for Global-N / Global-S protected attribute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169664"/>
            <a:ext cx="228600" cy="228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696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" y="409651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QUERY_METHOD to 'llm' for harder, more realistic queries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82112" y="1005840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82112" y="1508760"/>
            <a:ext cx="2743200" cy="3429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9272" y="170078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21024" y="162763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EED (Equal Exposure by Demographics) per retriever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9272" y="252374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5237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21024" y="245059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demographic-parity gap on Global-N share per retriever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9272" y="334670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3346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21024" y="327355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diversity-aware re-ranker (MMR or fairness-constrained)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9272" y="416966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41696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21024" y="409651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RQ3 fairness–utility tradeoff curve (nDCG@10 vs Global-N share)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9904" y="1005840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9904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89904" y="1508760"/>
            <a:ext cx="2743200" cy="3429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D1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27064" y="1700784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1700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28816" y="162763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baseline_metrics.csv + fairness_metrics.csv tables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27064" y="2523744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25237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28816" y="245059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report sections: Dataset, Experiments, Fairness Analysis, Discussion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27064" y="3346704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3346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28816" y="327355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10-slide final deck with real numbers (no placeholders)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27064" y="4169664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7064" y="41696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28816" y="4096512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 with reproducible pipeline and documented design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02920" y="2496312"/>
            <a:ext cx="7772400" cy="658368"/>
          </a:xfrm>
          <a:prstGeom prst="roundRect">
            <a:avLst>
              <a:gd name="adj" fmla="val 13889"/>
            </a:avLst>
          </a:prstGeom>
          <a:solidFill>
            <a:srgbClr val="1C3D5A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9631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would LLM-generated queries change the BM25 vs dense gap?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82696"/>
            <a:ext cx="7772400" cy="658368"/>
          </a:xfrm>
          <a:prstGeom prst="roundRect">
            <a:avLst>
              <a:gd name="adj" fmla="val 13889"/>
            </a:avLst>
          </a:prstGeom>
          <a:solidFill>
            <a:srgbClr val="1C3D5A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8269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Should Global-N share be measured at the slot or paper level?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7772400" cy="658368"/>
          </a:xfrm>
          <a:prstGeom prst="roundRect">
            <a:avLst>
              <a:gd name="adj" fmla="val 13889"/>
            </a:avLst>
          </a:prstGeom>
          <a:solidFill>
            <a:srgbClr val="1C3D5A"/>
          </a:solidFill>
          <a:ln w="12700">
            <a:solidFill>
              <a:srgbClr val="2A5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re-ranking constraint best preserves diversity without hurting Recall@10?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1392</Words>
  <Application>Microsoft Office PowerPoint</Application>
  <PresentationFormat>On-screen Show (16:9)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FairSearch-arXiv Baseline RAG Pipeline</dc:title>
  <dc:subject>PptxGenJS Presentation</dc:subject>
  <dc:creator>PptxGenJS</dc:creator>
  <cp:lastModifiedBy>shweta pattanaik</cp:lastModifiedBy>
  <cp:revision>5</cp:revision>
  <dcterms:created xsi:type="dcterms:W3CDTF">2026-06-11T19:25:38Z</dcterms:created>
  <dcterms:modified xsi:type="dcterms:W3CDTF">2026-06-11T19:51:23Z</dcterms:modified>
</cp:coreProperties>
</file>